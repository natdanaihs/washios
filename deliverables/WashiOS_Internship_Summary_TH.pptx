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885655879747eb" /><Relationship Type="http://schemas.openxmlformats.org/officeDocument/2006/relationships/extended-properties" Target="/docProps/app.xml" Id="Ra0b2dde65ed64af3" /><Relationship Type="http://schemas.openxmlformats.org/officeDocument/2006/relationships/officeDocument" Target="/ppt/presentation.xml" Id="R7213389e68b147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29438acf514a5a"/>
  </p:sldMasterIdLst>
  <p:notesMasterIdLst>
    <p:notesMasterId xmlns:r="http://schemas.openxmlformats.org/officeDocument/2006/relationships" r:id="Rdcf1b05fc9a94beb"/>
  </p:notesMasterIdLst>
  <p:sldIdLst>
    <p:sldId xmlns:r="http://schemas.openxmlformats.org/officeDocument/2006/relationships" id="256" r:id="Rceb88c80d2d34659"/>
    <p:sldId xmlns:r="http://schemas.openxmlformats.org/officeDocument/2006/relationships" id="257" r:id="Rc0cfdb6b0f8d4935"/>
    <p:sldId xmlns:r="http://schemas.openxmlformats.org/officeDocument/2006/relationships" id="258" r:id="R819f00c8d17f4c51"/>
    <p:sldId xmlns:r="http://schemas.openxmlformats.org/officeDocument/2006/relationships" id="259" r:id="Ra5d2343f8e654d8a"/>
    <p:sldId xmlns:r="http://schemas.openxmlformats.org/officeDocument/2006/relationships" id="260" r:id="R46f95d6eef8a457a"/>
    <p:sldId xmlns:r="http://schemas.openxmlformats.org/officeDocument/2006/relationships" id="261" r:id="R8ee27809676d4a4f"/>
    <p:sldId xmlns:r="http://schemas.openxmlformats.org/officeDocument/2006/relationships" id="262" r:id="R2478058819744f04"/>
    <p:sldId xmlns:r="http://schemas.openxmlformats.org/officeDocument/2006/relationships" id="263" r:id="Rb543db86148c4545"/>
    <p:sldId xmlns:r="http://schemas.openxmlformats.org/officeDocument/2006/relationships" id="264" r:id="R206d4581154b4a98"/>
    <p:sldId xmlns:r="http://schemas.openxmlformats.org/officeDocument/2006/relationships" id="265" r:id="R575ad9a42c0c49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9438acf514a5a" /><Relationship Type="http://schemas.openxmlformats.org/officeDocument/2006/relationships/theme" Target="/ppt/theme/theme1.xml" Id="Rff8c54d3ce314cf8" /><Relationship Type="http://schemas.openxmlformats.org/officeDocument/2006/relationships/notesMaster" Target="/ppt/notesMasters/notesMaster1.xml" Id="Rdcf1b05fc9a94beb" /><Relationship Type="http://schemas.openxmlformats.org/officeDocument/2006/relationships/presProps" Target="/ppt/presProps.xml" Id="Raee5ca4050cf4b0e" /><Relationship Type="http://schemas.openxmlformats.org/officeDocument/2006/relationships/viewProps" Target="/ppt/viewProps.xml" Id="Rb44df87a925a41a6" /><Relationship Type="http://schemas.openxmlformats.org/officeDocument/2006/relationships/tableStyles" Target="/ppt/tableStyles.xml" Id="R973ceb48efdb4e49" /><Relationship Type="http://schemas.openxmlformats.org/officeDocument/2006/relationships/slide" Target="/ppt/slides/slide1.xml" Id="Rceb88c80d2d34659" /><Relationship Type="http://schemas.openxmlformats.org/officeDocument/2006/relationships/slide" Target="/ppt/slides/slide2.xml" Id="Rc0cfdb6b0f8d4935" /><Relationship Type="http://schemas.openxmlformats.org/officeDocument/2006/relationships/slide" Target="/ppt/slides/slide3.xml" Id="R819f00c8d17f4c51" /><Relationship Type="http://schemas.openxmlformats.org/officeDocument/2006/relationships/slide" Target="/ppt/slides/slide4.xml" Id="Ra5d2343f8e654d8a" /><Relationship Type="http://schemas.openxmlformats.org/officeDocument/2006/relationships/slide" Target="/ppt/slides/slide5.xml" Id="R46f95d6eef8a457a" /><Relationship Type="http://schemas.openxmlformats.org/officeDocument/2006/relationships/slide" Target="/ppt/slides/slide6.xml" Id="R8ee27809676d4a4f" /><Relationship Type="http://schemas.openxmlformats.org/officeDocument/2006/relationships/slide" Target="/ppt/slides/slide7.xml" Id="R2478058819744f04" /><Relationship Type="http://schemas.openxmlformats.org/officeDocument/2006/relationships/slide" Target="/ppt/slides/slide8.xml" Id="Rb543db86148c4545" /><Relationship Type="http://schemas.openxmlformats.org/officeDocument/2006/relationships/slide" Target="/ppt/slides/slide9.xml" Id="R206d4581154b4a98" /><Relationship Type="http://schemas.openxmlformats.org/officeDocument/2006/relationships/slide" Target="/ppt/slides/slide10.xml" Id="R575ad9a42c0c49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cb019fa0985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28e88708ab4ffb" /><Relationship Type="http://schemas.openxmlformats.org/officeDocument/2006/relationships/notesMaster" Target="/ppt/notesMasters/notesMaster1.xml" Id="Rcd006223d74d40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792bf77c5741b0" /><Relationship Type="http://schemas.openxmlformats.org/officeDocument/2006/relationships/notesMaster" Target="/ppt/notesMasters/notesMaster1.xml" Id="R743f7d31ecc64f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9afa7ea67a4b05" /><Relationship Type="http://schemas.openxmlformats.org/officeDocument/2006/relationships/notesMaster" Target="/ppt/notesMasters/notesMaster1.xml" Id="R881921bd7e0747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c3e6940f9e4a41" /><Relationship Type="http://schemas.openxmlformats.org/officeDocument/2006/relationships/notesMaster" Target="/ppt/notesMasters/notesMaster1.xml" Id="Rf8f8a3bc6b7749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d265d3ea444f33" /><Relationship Type="http://schemas.openxmlformats.org/officeDocument/2006/relationships/notesMaster" Target="/ppt/notesMasters/notesMaster1.xml" Id="Rcc88cbca1e7341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bccc43d80c450b" /><Relationship Type="http://schemas.openxmlformats.org/officeDocument/2006/relationships/notesMaster" Target="/ppt/notesMasters/notesMaster1.xml" Id="Rc8f37615ba5f41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6fea5925814614" /><Relationship Type="http://schemas.openxmlformats.org/officeDocument/2006/relationships/notesMaster" Target="/ppt/notesMasters/notesMaster1.xml" Id="Rc4af1963c99b47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b2c46a2d3d4720" /><Relationship Type="http://schemas.openxmlformats.org/officeDocument/2006/relationships/notesMaster" Target="/ppt/notesMasters/notesMaster1.xml" Id="Rb29fb27945f549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7eb1ba3deb4468" /><Relationship Type="http://schemas.openxmlformats.org/officeDocument/2006/relationships/notesMaster" Target="/ppt/notesMasters/notesMaster1.xml" Id="R5dcd2d3eeab743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7a8ccd190342bb" /><Relationship Type="http://schemas.openxmlformats.org/officeDocument/2006/relationships/notesMaster" Target="/ppt/notesMasters/notesMaster1.xml" Id="Rb8b59334060443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9d2e7cd7b40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9b2638f1554150" /><Relationship Type="http://schemas.openxmlformats.org/officeDocument/2006/relationships/slideLayout" Target="/ppt/slideLayouts/slideLayout2.xml" Id="Re127850ce35c40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27850ce35c40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09c618d3c4b28" /><Relationship Type="http://schemas.openxmlformats.org/officeDocument/2006/relationships/notesSlide" Target="/ppt/notesSlides/notesSlide1.xml" Id="Rc744e83748e64b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5f7b902ff64cb1" /><Relationship Type="http://schemas.openxmlformats.org/officeDocument/2006/relationships/notesSlide" Target="/ppt/notesSlides/notesSlide2.xml" Id="R1199f97bd18843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2ff776bccb40d0" /><Relationship Type="http://schemas.openxmlformats.org/officeDocument/2006/relationships/notesSlide" Target="/ppt/notesSlides/notesSlide3.xml" Id="R8c0b9e32252142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381f6acc6c44c5" /><Relationship Type="http://schemas.openxmlformats.org/officeDocument/2006/relationships/notesSlide" Target="/ppt/notesSlides/notesSlide4.xml" Id="Rf0cda00b442746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cb86c06b304b95" /><Relationship Type="http://schemas.openxmlformats.org/officeDocument/2006/relationships/notesSlide" Target="/ppt/notesSlides/notesSlide5.xml" Id="Rbe0b88cb2d784e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f7541e3b44c7a" /><Relationship Type="http://schemas.openxmlformats.org/officeDocument/2006/relationships/notesSlide" Target="/ppt/notesSlides/notesSlide6.xml" Id="R9e4153a91f3542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dbc6aeed74757" /><Relationship Type="http://schemas.openxmlformats.org/officeDocument/2006/relationships/notesSlide" Target="/ppt/notesSlides/notesSlide7.xml" Id="R4e5b2f0fefbb45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d5ef9314144a98" /><Relationship Type="http://schemas.openxmlformats.org/officeDocument/2006/relationships/notesSlide" Target="/ppt/notesSlides/notesSlide8.xml" Id="Ra793e9a16dc640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98cd3ff187489f" /><Relationship Type="http://schemas.openxmlformats.org/officeDocument/2006/relationships/notesSlide" Target="/ppt/notesSlides/notesSlide9.xml" Id="R558d9ede396444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dc3227c1a494e" /><Relationship Type="http://schemas.openxmlformats.org/officeDocument/2006/relationships/notesSlide" Target="/ppt/notesSlides/notesSlide10.xml" Id="R3b48a640f10b4e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C5367E2-418C-4E25-8AA0-E5558049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8CAEA-48A0-4229-AF63-99DDA57E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6ED20-21E6-478A-876B-84D70F1E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40230-3D94-49C5-A1A9-25E8BF0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D7C27-44EA-480D-A5C3-F4779DC4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C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9FB0C1"/>
                </a:solidFill>
                <a:latin typeface="Tahoma"/>
                <a:ea typeface="Tahoma"/>
                <a:cs typeface="Tahoma"/>
              </a:rPr>
              <a:t>WASHIOS  •  INTERNSHIP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F9C8D-FEBD-4846-B79E-07BF2E91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7239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จากโจทย์สร้าง OS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สู่ระบบที่รับมือ Failure 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C1FA3-EC39-4B28-BED2-9783E179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695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6D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B8C6D4"/>
                </a:solidFill>
                <a:latin typeface="Tahoma"/>
                <a:ea typeface="Tahoma"/>
                <a:cs typeface="Tahoma"/>
              </a:rPr>
              <a:t>FreeRTOS foundation  →  Safety services  →  WashiBoot  →  Payload HIL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23CD9-A903-4454-B290-48E0A05D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525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0A43C"/>
                </a:solidFill>
                <a:latin typeface="Georgia"/>
                <a:ea typeface="Georgia"/>
                <a:cs typeface="Georgia"/>
              </a:defRPr>
            </a:pPr>
            <a:r>
              <a:rPr sz="5100" b="1">
                <a:solidFill>
                  <a:srgbClr val="F0A43C"/>
                </a:solidFill>
                <a:latin typeface="Georgia"/>
                <a:ea typeface="Georgia"/>
                <a:cs typeface="Georgia"/>
              </a:rPr>
              <a:t>2.5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01BAB-469A-462B-90F5-2FFC063E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เดือนของการเปลี่ยนโจทย์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ให้กลายเป็นระบบที่ส่งต่อได้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1F73B-4E01-44F5-90C1-78B957DC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3850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1A3B5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1A3B5"/>
                </a:solidFill>
                <a:latin typeface="Tahoma"/>
                <a:ea typeface="Tahoma"/>
                <a:cs typeface="Tahoma"/>
              </a:rPr>
              <a:t>ต้นแบบ Flight Software บน STM32</a:t>
            </a:r>
          </a:p>
          <a:p xmlns:a="http://schemas.openxmlformats.org/drawingml/2006/main">
            <a:pPr algn="ctr">
              <a:defRPr sz="825" b="0">
                <a:solidFill>
                  <a:srgbClr val="91A3B5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1A3B5"/>
                </a:solidFill>
                <a:latin typeface="Tahoma"/>
                <a:ea typeface="Tahoma"/>
                <a:cs typeface="Tahoma"/>
              </a:rPr>
              <a:t>ไม่ใช่ Flight-qualified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9B368-EB92-46D9-83EB-3C841829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4E9FB-FAD3-4840-822D-D8D7F57A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997A2-3AA4-409B-8673-51025C6F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4DDE6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D4DDE6"/>
                </a:solidFill>
                <a:latin typeface="Tahoma"/>
                <a:ea typeface="Tahoma"/>
                <a:cs typeface="Tahoma"/>
              </a:rPr>
              <a:t>NATIVE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E6705-C1A6-4A38-9636-C3F990F0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0B2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FA0B2"/>
                </a:solidFill>
                <a:latin typeface="Tahoma"/>
                <a:ea typeface="Tahoma"/>
                <a:cs typeface="Tahoma"/>
              </a:rPr>
              <a:t>11 boot + 38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34B1E-F759-442B-9D79-085C52B5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4A3B8-D276-49AF-95AA-F9BD68B3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339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DE015-0B29-4646-BD10-FFE5AD78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149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4DDE6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D4DDE6"/>
                </a:solidFill>
                <a:latin typeface="Tahoma"/>
                <a:ea typeface="Tahoma"/>
                <a:cs typeface="Tahoma"/>
              </a:rPr>
              <a:t>BUILD ENVS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0ADE7-1B00-49B1-BD4F-9AC5D292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14975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0B2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FA0B2"/>
                </a:solidFill>
                <a:latin typeface="Tahoma"/>
                <a:ea typeface="Tahoma"/>
                <a:cs typeface="Tahoma"/>
              </a:rPr>
              <a:t>core + boot + responder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C4A6F-FBE4-4AB9-BB61-66F56AEB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9B918-8EC1-4171-A13C-3A60CE70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339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BDB59-EE1A-4902-8E7E-FF40198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149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4DDE6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D4DDE6"/>
                </a:solidFill>
                <a:latin typeface="Tahoma"/>
                <a:ea typeface="Tahoma"/>
                <a:cs typeface="Tahoma"/>
              </a:rPr>
              <a:t>DYNAMIC HEAP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284C4-7760-4068-B0CF-1333988F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51497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0B2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FA0B2"/>
                </a:solidFill>
                <a:latin typeface="Tahoma"/>
                <a:ea typeface="Tahoma"/>
                <a:cs typeface="Tahoma"/>
              </a:rPr>
              <a:t>WashiOS-controlled paths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8030C-A797-47E9-B0F9-48D112C6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8616B-3939-4B56-921A-2383441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A0B2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8FA0B2"/>
                </a:solidFill>
                <a:latin typeface="Tahoma"/>
                <a:ea typeface="Tahoma"/>
                <a:cs typeface="Tahoma"/>
              </a:rPr>
              <a:t>WashiOS FlightStack • verified 31 July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0ADD85-032F-4AB3-B391-89BA3D42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C6D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B9C6D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7213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FC77FDB-4C18-40CC-A7C7-7DB33C22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D8F9EF9-A848-47E0-AB4B-9D49CF27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CEF81A-D1CD-4322-A9E6-76B439B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T H E   F I R S T   D E C I S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08FDB-763E-46F2-B9B7-23AC94C8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FreeRTOS เปลี่ยนโจทย์จาก “สร้าง Scheduler” เป็น “สร้าง Mission Behavior”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E1029-3A61-4C10-9575-7952F69D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จุดเริ่มต้น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7ECFC-0AE3-4FAE-8072-1CE336DC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333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FB50E-8228-4E40-B84B-9FC35CFD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9654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E9654B"/>
                </a:solidFill>
                <a:latin typeface="Tahoma"/>
                <a:ea typeface="Tahoma"/>
                <a:cs typeface="Tahoma"/>
              </a:rPr>
              <a:t>SUPERLOOP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FC95B-ADDC-4664-9ECB-A7114184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238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BF721-2C6A-495B-8206-D5CCEB10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122033"/>
                </a:solidFill>
                <a:latin typeface="Tahoma"/>
                <a:ea typeface="Tahoma"/>
                <a:cs typeface="Tahoma"/>
              </a:rPr>
              <a:t>อ่าน Sensor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9EBB4-9075-4F44-893F-AC354EF1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238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53853-452A-49E2-B521-072BBE4E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528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122033"/>
                </a:solidFill>
                <a:latin typeface="Tahoma"/>
                <a:ea typeface="Tahoma"/>
                <a:cs typeface="Tahoma"/>
              </a:rPr>
              <a:t>ประมวลผล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E99E0-3D0A-4220-B5A8-8EE1002E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238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C061A-2E89-42C7-93DA-05358C8F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122033"/>
                </a:solidFill>
                <a:latin typeface="Tahoma"/>
                <a:ea typeface="Tahoma"/>
                <a:cs typeface="Tahoma"/>
              </a:rPr>
              <a:t>ส่ง 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BA83A-8BF7-4CEA-B3F1-0A766793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1025"/>
            <a:ext cx="238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154E7-A698-4E61-8CD5-3924BA5E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4817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9654B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E9654B"/>
                </a:solidFill>
                <a:latin typeface="Tahoma"/>
                <a:ea typeface="Tahoma"/>
                <a:cs typeface="Tahoma"/>
              </a:rPr>
              <a:t>ตรวจ 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91F9A-1B2D-4271-828D-04129A99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9654B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E9654B"/>
                </a:solidFill>
                <a:latin typeface="Tahoma"/>
                <a:ea typeface="Tahoma"/>
                <a:cs typeface="Tahoma"/>
              </a:rPr>
              <a:t>งานหนึ่งช้า → ทั้ง loop ช้า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8813E-33E5-4867-B00B-AF9FB6C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6AF12-DCEA-44D9-8B08-96F7769A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สิ่งที่เลือกใช้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29609-7418-49E2-B138-92CB8777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6191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F4C31-161B-40D7-992F-87877A35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FREERTOS TASK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D8ED1-3CE0-4E48-A5B0-AE3C2A1E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81E282-F782-4F6F-BC00-2ECE30AD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623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Heartbeat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AFE13-9CEE-4B68-8FBB-A5C8CDDD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76625"/>
            <a:ext cx="1352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FB0C1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9FB0C1"/>
                </a:solidFill>
                <a:latin typeface="Tahoma"/>
                <a:ea typeface="Tahoma"/>
                <a:cs typeface="Tahoma"/>
              </a:rPr>
              <a:t>คาบของตัวเอง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4AED5-1C16-4E0D-AE0E-2EE526AB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3C8661-D242-4E68-AF0A-2E4931E7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623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Telemetry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35E4D-497C-4B18-9532-8286DDE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76625"/>
            <a:ext cx="1352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FB0C1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9FB0C1"/>
                </a:solidFill>
                <a:latin typeface="Tahoma"/>
                <a:ea typeface="Tahoma"/>
                <a:cs typeface="Tahoma"/>
              </a:rPr>
              <a:t>คาบของตัวเอง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8A288B-7EFA-450E-BDBE-B40A7366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DC4B9-808A-426A-B026-128D30D2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Watchdog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07DF3-A4E7-4C0C-B813-D3B8E040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1543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FB0C1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9FB0C1"/>
                </a:solidFill>
                <a:latin typeface="Tahoma"/>
                <a:ea typeface="Tahoma"/>
                <a:cs typeface="Tahoma"/>
              </a:rPr>
              <a:t>ตรวจทุก Critical Task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77D7FB-3A87-41D7-9C44-F1432980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61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FCFFD-958A-4BE3-B7BE-5A9CED40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9575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B2A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E1B2A"/>
                </a:solidFill>
                <a:latin typeface="Tahoma"/>
                <a:ea typeface="Tahoma"/>
                <a:cs typeface="Tahoma"/>
              </a:rPr>
              <a:t>Scheduler + Context Switching เป็นฐานที่มีอยู่แล้ว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F2BCB-39C1-46B7-B256-B66A17D0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86300"/>
            <a:ext cx="531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B8C6D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B8C6D4"/>
                </a:solidFill>
                <a:latin typeface="Tahoma"/>
                <a:ea typeface="Tahoma"/>
                <a:cs typeface="Tahoma"/>
              </a:rPr>
              <a:t>เวลาพัฒนาจึงถูกย้ายไปที่ Safety, Portability และ Fault Handling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3B7776-4CAA-4DA8-9511-72AEF874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ไม่สร้าง RTOS ใหม่ — ใช้ RTOS เป็นฐานเพื่อแก้โจทย์ CubeSat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53D83D-AF6F-4570-8A3F-04F5BDD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C124A5-7707-4C45-850F-F1E80BB4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Source: repository architecture and FreeRTOS static-task implementation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086C43-6124-458C-B2D6-E36D885F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8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18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85851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E192EE8-B600-4055-98E6-996960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CCD71B2-5060-404A-B996-FDD4393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A1F487-FE10-41EF-8FE9-98B3922C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R E Q U I R E M E N T   R E F R A M 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DDB3D-2983-42E9-9C88-B10CC4D6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CubeSat readiness ต้องการ Safety Stack เหนือ MCU — ไม่ใช่ Scheduler อีกตัว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62A8A-01FD-4443-BD28-72E176F3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52625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09A39-9FE7-4CB0-906F-D419DDCB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526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C60E1-9DEF-4FF0-8EC3-E94A9654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288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MISSION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4DAE3-2F4B-4A76-9767-647C028F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4429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Heartbeat • Telemetry • Payload • LaserCom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46904-9232-4F6E-A0BE-71EA1035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76525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7C4CD-A249-4C10-8AED-2EF229F7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76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AF345-650D-4362-B727-51AAA97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527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CORE SAFETY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B06A8-3857-49CF-A288-75E9E2B4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71775"/>
            <a:ext cx="4429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Task Health • Watchdog • FaultLog • TMR • Boot Fail-safe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65163-D757-46E5-A694-80FA1316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00425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6788F-6A76-4475-8EB8-C9DE2D9D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004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515C1-E623-422D-B1A9-356C4AA5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766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STATIC TASKING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9C0C6-5526-4D5D-80AC-1C5B77C5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4429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FreeRTOS scheduler • static stacks • deterministic task creation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974A8-F732-498C-B0A8-6AA40928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24325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EDDF7-F1A7-491A-9B30-F39E4F59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243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79DE8-306A-4D20-942B-4B044C06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005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HAL CONTRACTS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6D25A-96B5-4CEE-9065-904AF7E4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19575"/>
            <a:ext cx="4429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GPIO • UART • Timing • ADC • CAN • I²C • SPI • PWM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FDE91-01B2-4212-A27A-6D21C4BA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48225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1BE17-EA8D-41A4-84F6-FD75605F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482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1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8F78A9-E041-4DC7-A83F-E0CDDB68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244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BSP / SILICON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6DD33-27AF-45B5-8E9B-87BAAD9B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43475"/>
            <a:ext cx="4429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STM32G431 • STM32F411 • native host simulation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847870-9EE3-44B7-9586-8A2EC498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20002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6E4F3F-EA29-456B-8FD7-2BE32609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09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เป้าหมาย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B5F474-367A-4EC9-9CCB-1E26F308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86050"/>
            <a:ext cx="1524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เปลี่ยน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Hardware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โดยไม่เขียน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Safety Logic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ใหม่ทั้งหมด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61A1D-7475-4F98-8C63-4278D7AE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4342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21F3F-4C39-4F3E-945C-A41F384B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FB0C1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9FB0C1"/>
                </a:solidFill>
                <a:latin typeface="Tahoma"/>
                <a:ea typeface="Tahoma"/>
                <a:cs typeface="Tahoma"/>
              </a:rPr>
              <a:t>Portability</a:t>
            </a:r>
          </a:p>
          <a:p xmlns:a="http://schemas.openxmlformats.org/drawingml/2006/main">
            <a:pPr algn="ctr">
              <a:defRPr sz="750" b="0">
                <a:solidFill>
                  <a:srgbClr val="9FB0C1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9FB0C1"/>
                </a:solidFill>
                <a:latin typeface="Tahoma"/>
                <a:ea typeface="Tahoma"/>
                <a:cs typeface="Tahoma"/>
              </a:rPr>
              <a:t>+ bounded behavior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B1ACDF-2CB2-4489-81D7-8E450FBB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10250"/>
            <a:ext cx="9925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Architecture นี้ทำให้คำว่า “OS” กลายเป็น Flight Software Foundation ที่วัดและทดสอบได้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2FCF8F-8830-47D8-AAA9-00C470EE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A6034B-99A9-49DC-9078-CAF6DE21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Five-layer architecture • application logic remains hardware-neutral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4DB119-5067-4A42-AB5A-1DC0272C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8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18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18229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A73E412-1C39-4E88-8EF3-00EBF0E9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62B543-5F19-49DB-9D8F-891D779B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BCE21C-6297-4C32-B112-9FF6FE2E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P O R T A B I L I T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6319D-5D24-4ABB-8182-C1CE18F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HAL ทำให้ Payload Logic เปลี่ยนบอร์ดได้ โดยไม่ลาก Core ไปแก้ตาม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58A3-D742-4448-B25F-CA334CFE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CB22F-11A5-4231-87FF-9CD512B0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Payload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EE746-1AC6-4B07-9872-1268021D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1752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poll • timeout •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98230-C25D-4C8A-A8D0-D9D90C04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736C7-1712-4EC6-9ADD-C81D19BD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D92CE-2E09-4226-9F73-D6B3D515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HAL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BAA47-3357-4654-98C2-53242E03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1847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IUart / IGPIO / ITiming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28B9B-D0A7-42CC-ACEE-FBE77DDB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3F1FE-5DE1-4A89-9B6C-8929EE76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AEF08-1213-4E77-B617-53B681AF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Board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44394-B606-4413-9AC7-D5D2F6DA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28925"/>
            <a:ext cx="1847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STM32 HAL details อยู่ที่นี่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EE5C4-01A5-4DB6-9FF5-D1AF76A3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FF520-4464-4A6F-AD97-689CC9EC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981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825E2-0C07-48DA-8F7E-21C003FE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Physical 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4ADC5-D542-4CAC-8510-FA576366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28925"/>
            <a:ext cx="1638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G431 / F411 / host mock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23D7A-42D4-4046-97BE-4AFE9F94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5219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4FF67-879C-4F77-9A9B-2E71347F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95750"/>
            <a:ext cx="472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CORE LOGIC เห็นเพียง Interface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B2E4A-5FD8-42C9-BD24-7D650685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577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7B6C5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A7B6C5"/>
                </a:solidFill>
                <a:latin typeface="Tahoma"/>
                <a:ea typeface="Tahoma"/>
                <a:cs typeface="Tahoma"/>
              </a:rPr>
              <a:t>Driver, pin mapping และ vendor SDK ถูกกักไว้ด้านล่าง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AB3FA-CF52-45A1-BD5D-0CD0C19A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“Plug and Play” ในที่นี้หมายถึง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8DFBD-DF35-4E4B-B0C2-77D6761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10200"/>
            <a:ext cx="803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เพิ่ม Driver + Configuration ใหม่ โดยรักษา Safety Contract เดิม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3988F-D850-4661-8084-13BAB1E2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77153-EE1B-41F4-BA89-7FCD691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HAL interfaces and BSP isolation • not zero-configuration hardware discovery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A6987-B78E-43DA-91DC-07B1CE9B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8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18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82374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D0A0D3E-EAAB-408D-B5F0-C2A099EA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EF85CE-9CE8-4AA1-A5AE-8EFF8E36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37D6EA-DB0A-4E29-BFD0-1BB8CAE8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R U N T I M E   S A F E T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D8C53-99AC-47EC-9BD5-04B0C168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Core Services เปลี่ยน Task ที่ค้าง จาก Failure เงียบ ๆ ให้เป็น Recovery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DA9B0-C282-4B34-BDB3-48A49451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B1CA2-D955-4176-9E4E-DAD4BA98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Critical 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57F41-C3BA-45BB-86C4-24410689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7526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Heartbeat • Telemetry • Payload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F8976-C602-431F-9832-370DA159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check-in  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98E42-530B-4CA1-8081-4AD154FE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43150"/>
            <a:ext cx="2209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18AD7-DCC3-46C8-9F6C-51AF3C94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Task Health Registry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DDCD6-05F5-4181-A1FA-04C7379C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90825"/>
            <a:ext cx="18669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deadline + health mask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DE12C-C1BE-4365-BBBE-72D6F6CC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summary 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08AA9-3EB1-4A5C-B325-229D4072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7B358-7479-44F6-91EC-8330CEE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Watchdog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99327-9ED9-4944-8B27-7AB2D04D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90825"/>
            <a:ext cx="2038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refresh เฉพาะเมื่อทุก critical task healthy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70266-F021-4939-8D08-011BA9CB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1455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B6B77-E35A-40D8-8C70-DD8480B6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622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HEALTHY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1C4D1-47A9-4D30-AEB8-53C3322B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4320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refresh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watchdog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449ED-93BD-4C2C-A892-101F6299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9654B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E9654B"/>
                </a:solidFill>
                <a:latin typeface="Tahoma"/>
                <a:ea typeface="Tahoma"/>
                <a:cs typeface="Tahoma"/>
              </a:rPr>
              <a:t>UNHEALTHY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262DF-394A-42E7-9322-F2B60BE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19550"/>
            <a:ext cx="590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1C84E-DB59-46BE-8B6B-7F0CCD09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541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9654B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E9654B"/>
                </a:solidFill>
                <a:latin typeface="Tahoma"/>
                <a:ea typeface="Tahoma"/>
                <a:cs typeface="Tahoma"/>
              </a:rPr>
              <a:t>เมื่อ Critical Task พลาด Deadline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AC403-EFE3-49B0-8A76-B6CFC40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541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122033"/>
                </a:solidFill>
                <a:latin typeface="Tahoma"/>
                <a:ea typeface="Tahoma"/>
                <a:cs typeface="Tahoma"/>
              </a:rPr>
              <a:t>บันทึก Fault → หยุด refresh → hardware reset → retained evidence ยังอยู่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E5443-F169-4971-9FE5-2A7853C0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482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BDF406-40BB-4FDB-A08F-F76781F2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292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389C3-8DD2-416B-BF28-C8D7BC10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4355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FaultLog  •  CRC-32  •  retained .noinit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82CA10-7A8F-4361-BD86-D72BD9F5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System health ≠ Payload health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D3675-890C-4232-8595-C848E129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Payload offline ได้ แต่ OBC task ต้องยัง check-in และพยายาม recovery ต่อ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CD8DA4-E24B-46F7-9C6E-87BEA3B7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598D45-7436-4F49-8E68-5D3C9567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TaskHealthRegistry • Watchdog • retained FaultLog • deterministic reset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65E5A-C352-411F-9132-CC70D74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8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184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46690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2C84F14-CC3C-4BD9-9462-861A9A1D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837B7AE-D5BA-4022-8F4D-B9F89B69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8A34353-7180-4E66-9485-BB52089C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9C6D4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B9C6D4"/>
                </a:solidFill>
                <a:latin typeface="Tahoma"/>
                <a:ea typeface="Tahoma"/>
                <a:cs typeface="Tahoma"/>
              </a:rPr>
              <a:t>T H E   B L I N D   S P O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036AE-27B4-40FF-901F-8BE43C13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E2E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9E2EA"/>
                </a:solidFill>
                <a:latin typeface="Tahoma"/>
                <a:ea typeface="Tahoma"/>
                <a:cs typeface="Tahoma"/>
              </a:rPr>
              <a:t>ถ้า Payload พัง — OS ตรวจได้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7DAE5-4648-4D1B-86A1-DC8D1850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E2E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9E2EA"/>
                </a:solidFill>
                <a:latin typeface="Tahoma"/>
                <a:ea typeface="Tahoma"/>
                <a:cs typeface="Tahoma"/>
              </a:rPr>
              <a:t>ถ้า Task ค้าง — Watchdog Reset 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400AE-0ADE-4CEE-A160-3E05406F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F56BA-80D4-43C4-BDE6-41E2D4F2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แต่ถ้า Firmware ของ OS พังก่อนเริ่มทำงาน…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A9E39-43D4-4370-B845-E2437F94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ใครเป็นคนตรวจ?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85CAF-6B3A-44AA-8B45-560AFCF6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43000"/>
            <a:ext cx="2095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EF415-1D6D-41CD-84E6-AC88F1F6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430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6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EE89D-B65F-4341-A5D1-A2CF0287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57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12C2D-EB60-4C8C-AF32-45E3DC93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050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OS supervises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73584-62DC-4228-82A4-8B02BB5D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B9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47B90"/>
                </a:solidFill>
                <a:latin typeface="Tahoma"/>
                <a:ea typeface="Tahoma"/>
                <a:cs typeface="Tahoma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2575F-E719-4B89-9D9B-78FAAD80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6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D070E-F50F-47B8-80FE-0F7C246D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622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TASKS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E4D9F-DEB5-442F-9948-C16BEAAB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99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watchdog supervises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717CC-A226-425D-8E1F-10F1E35E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909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B9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47B90"/>
                </a:solidFill>
                <a:latin typeface="Tahoma"/>
                <a:ea typeface="Tahoma"/>
                <a:cs typeface="Tahoma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9BF67-5C56-422D-B231-A54922AF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528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B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94647-BEEC-4438-A2F5-6E31100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671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OS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28E1F-0A16-4E56-99F9-3483451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148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13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39E66-ECA3-4DA9-AD13-02DF7393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7B781-E642-49E7-AC39-8CC0A364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763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1B2A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E1B2A"/>
                </a:solidFill>
                <a:latin typeface="Tahoma"/>
                <a:ea typeface="Tahoma"/>
                <a:cs typeface="Tahoma"/>
              </a:rPr>
              <a:t>คำถามนี้นำไปสู่การสร้าง WashiBoot — Software ที่ทำงานก่อน 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DE67E-6D24-49CB-A1A2-AE68051F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91DD9-AD13-41C6-94EC-82CF0990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A0B2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8FA0B2"/>
                </a:solidFill>
                <a:latin typeface="Tahoma"/>
                <a:ea typeface="Tahoma"/>
                <a:cs typeface="Tahoma"/>
              </a:rPr>
              <a:t>Turning point: an independent pre-application safety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F73F1-34DC-4ACC-B7DD-66A0A777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C6D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B9C6D4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6297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0D4B06A-2D6D-4C1F-AC14-47C23DDB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8BC1175-2F65-4A02-99D1-6ECF8A99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7D2A61-426C-435E-94A0-58378723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B O O T - T I M E   S A F E T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F6940-F007-4073-BCE7-0169479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WashiBoot ตัดสินใจก่อน Application Code จะได้รับสิทธิ์ทำงาน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D846-E992-41CE-90FA-BDF9C7D7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381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B0583-E2B2-40FC-8373-4EFAEE67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CB61C-A97E-4B02-94F3-90FA43E3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382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FB0C1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9FB0C1"/>
                </a:solidFill>
                <a:latin typeface="Tahoma"/>
                <a:ea typeface="Tahoma"/>
                <a:cs typeface="Tahoma"/>
              </a:rPr>
              <a:t>entry at 0x08000000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FCC08-663D-49D4-A887-889B252D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051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C6A0C-2A4A-485B-B737-B0BFFF8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E4707-80A2-4334-9D5F-C6070848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RECOVER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D072F-26E1-4573-BEBA-3F138CC1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28925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metadata + retained fault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04C68-F4B2-4F35-962F-CFF72F50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051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51CF3-0AB2-4257-88C2-0FAFB9CF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C3DE2-5424-4474-BAAD-B3FF387F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F2CA9-6F71-4DA5-841D-219427D5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28925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state • vector table • CRC-32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71D1D-5F1C-4863-8884-2B0796AB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8A1C6-7B7F-4C58-B450-C56323AA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AFCD0-FB1B-4BAE-AC8B-E6146DA6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146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SELECT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0E3E3-70FC-4392-8E0F-06AF3B4D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28925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active slot then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DA612-872B-4E17-8FAF-B29F675E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526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VALID 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9132D-0C7B-4734-87B5-65694A7B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7645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9AF2D9-95F3-47F2-A762-06C2D7E5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JUMP TO 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AD2BE-114D-47B5-BBAB-108A9CB5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24125"/>
            <a:ext cx="1333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set VTOR / MSP / reset handler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26146-02F2-4235-B092-FB4473F2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766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9654B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E9654B"/>
                </a:solidFill>
                <a:latin typeface="Tahoma"/>
                <a:ea typeface="Tahoma"/>
                <a:cs typeface="Tahoma"/>
              </a:rPr>
              <a:t>INVALID 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E5D05-9DBE-4927-928E-E0A6FE74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2425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65AD3-33EE-433D-81F0-E1CC42AB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576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SAFE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39BFA-E0A0-4E66-983B-655AEF0E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71925"/>
            <a:ext cx="13335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record SafeFail + visible beacon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8EC405-9C4A-40D6-8C36-E0250B6A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62400"/>
            <a:ext cx="657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972B84-87C4-44F7-B147-96342686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719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A/B 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BCFAB-24F5-474E-A843-8CCE522C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Slot A  0x08004000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03DEDD-786E-402B-864D-6078AF56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Slot B  0x08012000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A08C10-87ED-4006-9D24-C8883C0D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52950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6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A9B8C6"/>
                </a:solidFill>
                <a:latin typeface="Tahoma"/>
                <a:ea typeface="Tahoma"/>
                <a:cs typeface="Tahoma"/>
              </a:rPr>
              <a:t>pending image มี attempt limit • confirmed image ใช้งานต่อ • invalid active slot ลอง fallback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82D477-532D-4126-8A4B-3B187E17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9654B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E9654B"/>
                </a:solidFill>
                <a:latin typeface="Tahoma"/>
                <a:ea typeface="Tahoma"/>
                <a:cs typeface="Tahoma"/>
              </a:rPr>
              <a:t>CRC ตรวจ accidental corruption — ยังไม่ใช่ signature หรือ secure boot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FD2F7F-156D-48AB-A60F-4CF2DD9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D945E-C66F-4B77-894C-1D8C75CE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WashiBoot policy • vector validation • CRC provisioning • A/B fallback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52A5CA-7D4A-48B4-B2F2-D5E6AEE4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8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184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48312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78F45CD-4A57-4ECF-ADB7-400EE700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11A64CC-4B17-4065-9EB8-CD72E87A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B84538-BFB0-45E7-AFDD-751D3ABC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H A R D W A R E   V A L I D A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5088E-A607-432A-8A7A-9EBDFD6C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บอร์ดจำลองที่เขียนโปรแกรมได้ ให้ Fault Coverage มากกว่า Sensor คงที่หนึ่งตัว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EBAFB-7A51-48BF-9B89-3B26A241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E4118-893B-415A-A3DE-8066ACC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G431  •  OBC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EA0FB-DD04-47A4-B16E-B3994043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28003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2C0CD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B2C0CD"/>
                </a:solidFill>
                <a:latin typeface="Tahoma"/>
                <a:ea typeface="Tahoma"/>
                <a:cs typeface="Tahoma"/>
              </a:rPr>
              <a:t>WashiBoot + WashiOS-Core</a:t>
            </a:r>
          </a:p>
          <a:p xmlns:a="http://schemas.openxmlformats.org/drawingml/2006/main">
            <a:pPr algn="l">
              <a:defRPr sz="863" b="0">
                <a:solidFill>
                  <a:srgbClr val="B2C0CD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B2C0CD"/>
                </a:solidFill>
                <a:latin typeface="Tahoma"/>
                <a:ea typeface="Tahoma"/>
                <a:cs typeface="Tahoma"/>
              </a:rPr>
              <a:t>poll every ~500 ms</a:t>
            </a:r>
          </a:p>
          <a:p xmlns:a="http://schemas.openxmlformats.org/drawingml/2006/main">
            <a:pPr algn="l">
              <a:defRPr sz="863" b="0">
                <a:solidFill>
                  <a:srgbClr val="B2C0CD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B2C0CD"/>
                </a:solidFill>
                <a:latin typeface="Tahoma"/>
                <a:ea typeface="Tahoma"/>
                <a:cs typeface="Tahoma"/>
              </a:rPr>
              <a:t>validate CRC / sequence / timeout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897D7-373F-43D3-B16A-F26E2782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51E61-D9F5-486E-88C0-6826B836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47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G474  •  PAYLOAD 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547BE-54EC-41A8-8EA6-EFC35680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62225"/>
            <a:ext cx="28003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2C0CD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B2C0CD"/>
                </a:solidFill>
                <a:latin typeface="Tahoma"/>
                <a:ea typeface="Tahoma"/>
                <a:cs typeface="Tahoma"/>
              </a:rPr>
              <a:t>software responder</a:t>
            </a:r>
          </a:p>
          <a:p xmlns:a="http://schemas.openxmlformats.org/drawingml/2006/main">
            <a:pPr algn="l">
              <a:defRPr sz="863" b="0">
                <a:solidFill>
                  <a:srgbClr val="B2C0CD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B2C0CD"/>
                </a:solidFill>
                <a:latin typeface="Tahoma"/>
                <a:ea typeface="Tahoma"/>
                <a:cs typeface="Tahoma"/>
              </a:rPr>
              <a:t>selectable fault behavior</a:t>
            </a:r>
          </a:p>
          <a:p xmlns:a="http://schemas.openxmlformats.org/drawingml/2006/main">
            <a:pPr algn="l">
              <a:defRPr sz="863" b="0">
                <a:solidFill>
                  <a:srgbClr val="B2C0CD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B2C0CD"/>
                </a:solidFill>
                <a:latin typeface="Tahoma"/>
                <a:ea typeface="Tahoma"/>
                <a:cs typeface="Tahoma"/>
              </a:rPr>
              <a:t>telemetry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1887C-CBE9-4574-B1E4-2517964C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24100"/>
            <a:ext cx="3924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F0D81-88EB-48A4-96AE-6575EE32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USART1  •  115200 BAUD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4B888-4ADD-476A-A187-289C5038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990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PollRequest  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D2FB2-6A86-456E-81EA-96985ACE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71850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←  TelemetryResponse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6784D-E2C5-4DA1-B22F-10D88FC3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Fault modes เปลี่ยนได้ด้วย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A3BA4-BC68-4A9A-8276-61487351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31DE7-F322-48BC-B731-6117C3C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70A23-0EF5-49FA-9296-C9B30928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1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valid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2D112-08D2-4FDB-BD32-3EE0BDEC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E41F0-9D51-4FB8-8005-8B22C0D5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911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SILENT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5BBA4-9B9A-40EE-AE41-723F4FBD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483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1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no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DB055-909D-48FB-A604-8CA42275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673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F3D7B-9A6C-4E61-81E0-72B92E3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911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9654B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E9654B"/>
                </a:solidFill>
                <a:latin typeface="Tahoma"/>
                <a:ea typeface="Tahoma"/>
                <a:cs typeface="Tahoma"/>
              </a:rPr>
              <a:t>BAD_CRC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F54E0B-BC00-48E1-B166-ED2399FD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483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1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corrupt frame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85419C-83A8-45A1-8036-6B0D6509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3BD8D-5B99-4237-BA01-F9814314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911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DELAYED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3668C-AC40-4160-BEA6-8D7D0236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483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1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&gt;100 ms deadline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B3DD64-8284-478D-9AD5-643AC1E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6730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2CBC24-7001-4298-8492-EB2DD02D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911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RECOVERED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D59974-DDD3-45EB-A85B-4EA53F5D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483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1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back online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282A7F-5A77-4FFB-A8BC-0AA12B78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FAD620-47A5-4BF9-A39F-C8634A86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Software-defined payload HIL • experiment record still required for final hardware claims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28079C-F534-4A94-9F32-8F697BB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8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184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9348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2BB1D5B-1D0E-4D91-A1DA-7748F77E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FE804EC-A3F7-4112-A3BE-F6B14824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50D0D7-ADE4-479E-9350-05E09D5E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V E R I F I C A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18AEE-32C0-46BE-9AC1-0087935B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หลักฐานครอบคลุม Logic, Target Compilation และ Resource Discipline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6C3BE-9E94-45A6-ACA1-991D320E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122033"/>
                </a:solidFill>
                <a:latin typeface="Georgia"/>
                <a:ea typeface="Georgia"/>
                <a:cs typeface="Georgia"/>
              </a:defRPr>
            </a:pPr>
            <a:r>
              <a:rPr sz="8400" b="1">
                <a:solidFill>
                  <a:srgbClr val="122033"/>
                </a:solidFill>
                <a:latin typeface="Georgia"/>
                <a:ea typeface="Georgia"/>
                <a:cs typeface="Georgia"/>
              </a:rPr>
              <a:t>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3C831-81A4-4E12-ABA8-5989EDB4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NATIVE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C92C9-808B-441F-8D3E-841C5012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33285-C414-4697-ABA1-98B0D2CC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11  BOOTLOADER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9E415-7D2B-4FFC-A3FC-61029D24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052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38  CORE / SITL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9A0B7-0AE2-4A78-ABF4-AAB8D364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3028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policy • CRC • fallback • health • watchdog • 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6B6F2-8910-405D-8E6A-538799E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3337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D3C7F-1BB5-4C9C-AE20-54CBAA0B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10 BUILD ENVIRONMENTS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CF546-9003-4435-AA5E-D95A0203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CORE STM32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00D00-159B-4430-B554-23EB8BEC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79714-79F1-441F-922F-1C2DADD4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99566-F95F-493F-BBBB-ED5CB2E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6 /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91993-1F8E-4FC1-B277-B9A97635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WASHIBOOT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3AF3F-1B94-4FBC-B3FD-0D9808E2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F302D-16E1-4C67-A6D7-4EB19874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6F3B6-D194-418B-9850-E61BCE98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3 /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7A10A-CEAF-4C52-93D9-02517B93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788" b="1">
                <a:solidFill>
                  <a:srgbClr val="647184"/>
                </a:solidFill>
                <a:latin typeface="Tahoma"/>
                <a:ea typeface="Tahoma"/>
                <a:cs typeface="Tahoma"/>
              </a:rPr>
              <a:t>G474 RESPONDER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6CD28-DBD6-403B-ABFB-7895B6C2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5F38A-2BC2-4A82-BE14-6A5E57D7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95594-E3BE-40A0-9D5E-01236996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19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1 /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4AC592-73AD-43BD-BFED-B703B761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619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E0B8A-5795-4026-9CB1-9D509966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G431 RESOURCE PROFILE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55EC1-42FB-48D2-9BD8-2C25BAC0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A5EBC5-9B3F-4ECE-92B0-692D6B1B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16.1 KB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2B896-912A-489F-9FEE-0D271F8F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4DDE6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D4DDE6"/>
                </a:solidFill>
                <a:latin typeface="Tahoma"/>
                <a:ea typeface="Tahoma"/>
                <a:cs typeface="Tahoma"/>
              </a:rPr>
              <a:t>.text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A24A4A-1BD3-41AA-8D6A-C3BB0C4F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8612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0B2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FA0B2"/>
                </a:solidFill>
                <a:latin typeface="Tahoma"/>
                <a:ea typeface="Tahoma"/>
                <a:cs typeface="Tahoma"/>
              </a:rPr>
              <a:t>application 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0BC33E-9A08-4CAC-9098-D1F045E6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24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3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0FA2BE-A0BD-4702-9003-98F3E4D5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6.9 KB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CF6904-9CB7-462B-BF63-36048515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861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4DDE6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D4DDE6"/>
                </a:solidFill>
                <a:latin typeface="Tahoma"/>
                <a:ea typeface="Tahoma"/>
                <a:cs typeface="Tahoma"/>
              </a:rPr>
              <a:t>STATIC RAM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14ED54-A477-4C7C-9FF0-15063B84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8612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0B2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FA0B2"/>
                </a:solidFill>
                <a:latin typeface="Tahoma"/>
                <a:ea typeface="Tahoma"/>
                <a:cs typeface="Tahoma"/>
              </a:rPr>
              <a:t>.data + .bss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B21A66-41A5-42A4-A566-6636ADE7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24300"/>
            <a:ext cx="3067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AB782-878E-403D-BC02-78696350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3860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A43C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0A43C"/>
                </a:solidFill>
                <a:latin typeface="Georgia"/>
                <a:ea typeface="Georgia"/>
                <a:cs typeface="Georgia"/>
              </a:rPr>
              <a:t>0 BYTE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789826-3869-41FC-81D0-0F7C85BA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576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3CFDA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C3CFDA"/>
                </a:solidFill>
                <a:latin typeface="Tahoma"/>
                <a:ea typeface="Tahoma"/>
                <a:cs typeface="Tahoma"/>
              </a:rPr>
              <a:t>controlled dynamic heap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F9B910-DDB9-4D51-9A8C-74FC2DCC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8FA0B2"/>
                </a:solidFill>
                <a:latin typeface="Tahoma"/>
                <a:ea typeface="Tahoma"/>
                <a:cs typeface="Tahoma"/>
              </a:defRPr>
            </a:pPr>
            <a:r>
              <a:rPr sz="638" b="0">
                <a:solidFill>
                  <a:srgbClr val="8FA0B2"/>
                </a:solidFill>
                <a:latin typeface="Tahoma"/>
                <a:ea typeface="Tahoma"/>
                <a:cs typeface="Tahoma"/>
              </a:rPr>
              <a:t>Static allocation ≠ zero RAM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BA21FA-E13E-4CAC-AF03-45FC192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7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203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22033"/>
                </a:solidFill>
                <a:latin typeface="Tahoma"/>
                <a:ea typeface="Tahoma"/>
                <a:cs typeface="Tahoma"/>
              </a:rPr>
              <a:t>Native tests ตรวจ Logic — Target builds ตรวจ Integration — Resource profile ตรวจข้อจำกัด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DD08B9-207B-4D53-ACC2-7EAD6F1F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E22D06-ADFD-48E2-850B-A5B2EC95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184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647184"/>
                </a:solidFill>
                <a:latin typeface="Tahoma"/>
                <a:ea typeface="Tahoma"/>
                <a:cs typeface="Tahoma"/>
              </a:rPr>
              <a:t>Verified baseline: 31 July 2026 • exact commands in docs/DELIVERY_STATUS_TH.md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865F9E-03D9-4FFD-9B2E-A9B88DE9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8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47184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354862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A5000D9-F1E2-4BB3-9B35-68552CB6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4935FD-A4C9-463F-B666-C1A46BBE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078462E-7B16-4610-8B55-806E0206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9C6D4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B9C6D4"/>
                </a:solidFill>
                <a:latin typeface="Tahoma"/>
                <a:ea typeface="Tahoma"/>
                <a:cs typeface="Tahoma"/>
              </a:rPr>
              <a:t>H A N D O F 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B04E5-4148-46DD-B10B-C382241C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สิ่งที่ส่งมอบ ไม่ใช่ Flight-ready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C6DCB-C298-4639-B7C7-35635CE3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B8C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25B8C7"/>
                </a:solidFill>
                <a:latin typeface="Tahoma"/>
                <a:ea typeface="Tahoma"/>
                <a:cs typeface="Tahoma"/>
              </a:rPr>
              <a:t>แต่เป็น Foundation ที่ Build ซ้ำ ทดสอบ และพัฒนาต่อได้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61560-7414-44FC-A99E-85E92F2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DELIVERED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A6BA1-26FC-407C-ADA2-17F55FA6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9530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A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90030-3BD0-4EF7-9FB0-A6E34DD8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59B0F-A853-459C-9DCB-3027A5F3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FreeRTOS safety foundation + HAL/BSP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7336C-437E-4FF2-B610-5DE80D81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C8AEF-6FF3-44C6-8933-4CA9A89B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956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WashiBoot A/B policy + CRC/vector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0025C-6568-48E0-ABF7-8FB60DA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4C796-2D17-4D60-A95B-66692D61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67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Software-defined payload fault simulation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3D78D-5F10-4C2C-BDB5-EBEC084C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7B8A6-7494-4C4F-8586-95E39F4F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386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49 tests + 10 build environments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FBA2E-64C5-45A4-B3C4-9EBFBBF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B38B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4AB38B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29E08-6C73-44F6-9361-76AFC3D2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Portable scripts + Thai handoff manual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F266E-BE91-47CC-BC79-9F6A9B8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NEXT MILESTONE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E0613-543F-4D53-A2BB-10851CA5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49530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F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6F009-B269-4233-95A9-9778D411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7874E-C3F4-4B6C-A602-FE5B3DFB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24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DED0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E8DED0"/>
                </a:solidFill>
                <a:latin typeface="Tahoma"/>
                <a:ea typeface="Tahoma"/>
                <a:cs typeface="Tahoma"/>
              </a:rPr>
              <a:t>signed firmware + anti-rollback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50EFD-F3F3-4B88-853B-133C1707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9567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15D0C-CD77-40A7-803D-65E94CBB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DED0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E8DED0"/>
                </a:solidFill>
                <a:latin typeface="Tahoma"/>
                <a:ea typeface="Tahoma"/>
                <a:cs typeface="Tahoma"/>
              </a:rPr>
              <a:t>persistent metadata across power loss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48FB1-E321-44E8-8CEE-FCDEF30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671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6010D-4967-4107-B735-4591C3FC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67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DED0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E8DED0"/>
                </a:solidFill>
                <a:latin typeface="Tahoma"/>
                <a:ea typeface="Tahoma"/>
                <a:cs typeface="Tahoma"/>
              </a:rPr>
              <a:t>automated HIL logs + power-cycle campaign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177BF3-DE65-4BBD-A617-1BD75FD8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386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64F1E-1394-4905-B887-C28470E9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DED0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E8DED0"/>
                </a:solidFill>
                <a:latin typeface="Tahoma"/>
                <a:ea typeface="Tahoma"/>
                <a:cs typeface="Tahoma"/>
              </a:rPr>
              <a:t>DMA / long-duration soak testing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B56DF-464E-4DC1-AA98-CE6DD9AD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01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0A43C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0A43C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7F6A2A-F6C1-4A64-BCBF-1E360981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10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DED0"/>
                </a:solidFill>
                <a:latin typeface="Tahoma"/>
                <a:ea typeface="Tahoma"/>
                <a:cs typeface="Tahoma"/>
              </a:defRPr>
            </a:pPr>
            <a:r>
              <a:rPr sz="788" b="0">
                <a:solidFill>
                  <a:srgbClr val="E8DED0"/>
                </a:solidFill>
                <a:latin typeface="Tahoma"/>
                <a:ea typeface="Tahoma"/>
                <a:cs typeface="Tahoma"/>
              </a:rPr>
              <a:t>project license before public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1D384-6562-4847-9C83-BBF2210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55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59F090-6E32-42E9-A233-F308D368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17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1B2A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E1B2A"/>
                </a:solidFill>
                <a:latin typeface="Tahoma"/>
                <a:ea typeface="Tahoma"/>
                <a:cs typeface="Tahoma"/>
              </a:rPr>
              <a:t>จาก “สร้าง OS จากศูนย์”  →  “สร้างระบบที่รู้ว่าตัวเองกำลังพัง และรู้ว่าจะทำอะไรต่อ”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49BF3-012E-45C5-89AF-A399FCB6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A73FB4-559D-4A66-B9A1-AD3DD12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A0B2"/>
                </a:solidFill>
                <a:latin typeface="Tahoma"/>
                <a:ea typeface="Tahoma"/>
                <a:cs typeface="Tahoma"/>
              </a:defRPr>
            </a:pPr>
            <a:r>
              <a:rPr sz="563" b="0">
                <a:solidFill>
                  <a:srgbClr val="8FA0B2"/>
                </a:solidFill>
                <a:latin typeface="Tahoma"/>
                <a:ea typeface="Tahoma"/>
                <a:cs typeface="Tahoma"/>
              </a:rPr>
              <a:t>WashiOS FlightStack • internship handoff • questions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328DA6-CFB0-4168-A7E5-359069C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C6D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B9C6D4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294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2026-07-31T02:11:57.1180000Z</dcterms:created>
  <dcterms:modified xsi:type="dcterms:W3CDTF">2026-07-31T02:11:57.1180000Z</dcterms:modified>
</coreProperties>
</file>